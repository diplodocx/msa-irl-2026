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98" r:id="rId5"/>
    <p:sldId id="260" r:id="rId6"/>
    <p:sldId id="300" r:id="rId7"/>
    <p:sldId id="261" r:id="rId8"/>
    <p:sldId id="264" r:id="rId9"/>
    <p:sldId id="265" r:id="rId10"/>
    <p:sldId id="287" r:id="rId11"/>
    <p:sldId id="301" r:id="rId12"/>
    <p:sldId id="270" r:id="rId13"/>
    <p:sldId id="302" r:id="rId14"/>
    <p:sldId id="272" r:id="rId15"/>
    <p:sldId id="303" r:id="rId16"/>
    <p:sldId id="304" r:id="rId17"/>
    <p:sldId id="273" r:id="rId18"/>
    <p:sldId id="288" r:id="rId19"/>
    <p:sldId id="299" r:id="rId20"/>
    <p:sldId id="274" r:id="rId21"/>
    <p:sldId id="263" r:id="rId22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jBy7qHxQvqCXbXFRehyEmgCog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C79A63-D6CE-4238-A867-FF340A82C5AE}">
  <a:tblStyle styleId="{61C79A63-D6CE-4238-A867-FF340A82C5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32" y="2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79450" y="4751579"/>
            <a:ext cx="5438775" cy="38877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5490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637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eb2564583_0_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g2ceb256458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eb2564583_0_1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g2ceb256458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79450" y="4751579"/>
            <a:ext cx="5438775" cy="38877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0063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79450" y="4751579"/>
            <a:ext cx="5438775" cy="38877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8667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eb2564583_0_1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2ceb256458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eb2564583_0_1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2ceb256458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9437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eb2564583_0_1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g2ceb256458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7306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eb2564583_0_1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g2ceb256458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8317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eb2564583_0_1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g2ceb256458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3374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eb2564583_0_1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2ceb256458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3923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79450" y="4751579"/>
            <a:ext cx="5438775" cy="38877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7230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79450" y="4751579"/>
            <a:ext cx="5438775" cy="38877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41020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eb2564583_0_1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2ceb256458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7734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ru-RU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МИРЭА – РОССИЙСКИЙ ТЕХНОЛОГИЧЕСКИЙ УНИВЕРСИТЕТ</a:t>
            </a:r>
            <a:endParaRPr/>
          </a:p>
        </p:txBody>
      </p:sp>
      <p:pic>
        <p:nvPicPr>
          <p:cNvPr id="85" name="Google Shape;85;p1" descr="MIREA_Gerb_Colou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9223" y="1483046"/>
            <a:ext cx="1161190" cy="12950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1054954" y="4130923"/>
            <a:ext cx="6529734" cy="101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Информационно-управляющая система интерактивного взаимодействия со стендовым оборудованием</a:t>
            </a:r>
            <a:r>
              <a:rPr lang="ru-RU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lang="ru-RU"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241817" y="3508224"/>
            <a:ext cx="4156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 </a:t>
            </a:r>
            <a:r>
              <a:rPr lang="ru-RU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выпускной квалификационной работы</a:t>
            </a:r>
            <a:r>
              <a:rPr lang="ru-RU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343289" y="5094406"/>
            <a:ext cx="6745757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Выполнил студент группы ИВБО-07-20 Иванисенко З. И.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Направление: Информатика и вычислительная техника(09.03.01)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Научный руководитель: доцент, к.т.н. </a:t>
            </a:r>
            <a:r>
              <a:rPr lang="ru-RU" sz="1800" dirty="0" err="1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Курнасов</a:t>
            </a: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 Е. В.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Консультант: Антонов С. В., ст. преподаватель</a:t>
            </a: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856555048"/>
              </p:ext>
            </p:extLst>
          </p:nvPr>
        </p:nvGraphicFramePr>
        <p:xfrm>
          <a:off x="1478120" y="2944968"/>
          <a:ext cx="5943600" cy="564500"/>
        </p:xfrm>
        <a:graphic>
          <a:graphicData uri="http://schemas.openxmlformats.org/drawingml/2006/table">
            <a:tbl>
              <a:tblPr>
                <a:noFill/>
                <a:tableStyleId>{61C79A63-D6CE-4238-A867-FF340A82C5AE}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Институт информационных технологий</a:t>
                      </a:r>
                      <a:endParaRPr lang="ru-RU"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Кафедра промышленной информатики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0" y="1"/>
            <a:ext cx="8244408" cy="662497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Цели и задачи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276349" y="1508867"/>
            <a:ext cx="8591301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Целью работы является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беспечение интерактивности демонстрационного функционала лабораторного стенда при проведении выставочных мероприятий.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1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проанализировать предметную область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выполнить структурно-функциональный анализ в нотациях IDEF0 и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BPMN;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архитектуру информационно-управляющей системы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логическую модель данных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реализовать необходимые программные компоненты информационно-управляющей системы.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0" y="1"/>
            <a:ext cx="8244408" cy="662497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Описание предметной области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6" descr="Удаленное управление «Умным домом» с мобильного телефона">
            <a:extLst>
              <a:ext uri="{FF2B5EF4-FFF2-40B4-BE49-F238E27FC236}">
                <a16:creationId xmlns:a16="http://schemas.microsoft.com/office/drawing/2014/main" id="{0D71C204-6746-4B0B-A396-BE61F520C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827" y="940843"/>
            <a:ext cx="4166543" cy="277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Что такое дашборд и для чего нужны дашборды?">
            <a:extLst>
              <a:ext uri="{FF2B5EF4-FFF2-40B4-BE49-F238E27FC236}">
                <a16:creationId xmlns:a16="http://schemas.microsoft.com/office/drawing/2014/main" id="{FE4ABCEF-023A-40F4-AB0F-9BC44755E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48" y="3719985"/>
            <a:ext cx="5508104" cy="315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5617218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4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9C23F6-785C-42FA-BA0C-CC70DF46B0A3}"/>
              </a:ext>
            </a:extLst>
          </p:cNvPr>
          <p:cNvSpPr txBox="1"/>
          <p:nvPr/>
        </p:nvSpPr>
        <p:spPr>
          <a:xfrm>
            <a:off x="0" y="1254382"/>
            <a:ext cx="8855765" cy="2999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 algn="just" defTabSz="685800">
              <a:lnSpc>
                <a:spcPct val="150000"/>
              </a:lnSpc>
              <a:spcBef>
                <a:spcPts val="300"/>
              </a:spcBef>
              <a:buClr>
                <a:srgbClr val="888888"/>
              </a:buClr>
              <a:buSzPts val="2000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Система должна выполнять функции:</a:t>
            </a:r>
          </a:p>
          <a:p>
            <a:pPr marL="514350" indent="-342900" algn="just" defTabSz="685800">
              <a:lnSpc>
                <a:spcPct val="150000"/>
              </a:lnSpc>
              <a:spcBef>
                <a:spcPts val="300"/>
              </a:spcBef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управление стендовым оборудованием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514350" indent="-342900" algn="just" defTabSz="685800">
              <a:lnSpc>
                <a:spcPct val="150000"/>
              </a:lnSpc>
              <a:spcBef>
                <a:spcPts val="300"/>
              </a:spcBef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сбор и анализ данных, связанных со стендовым оборудованием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;</a:t>
            </a:r>
          </a:p>
          <a:p>
            <a:pPr marL="514350" indent="-342900" algn="just" defTabSz="685800">
              <a:lnSpc>
                <a:spcPct val="150000"/>
              </a:lnSpc>
              <a:spcBef>
                <a:spcPts val="300"/>
              </a:spcBef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наличие голосового помощника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514350" indent="-342900" algn="just" defTabSz="685800">
              <a:lnSpc>
                <a:spcPct val="150000"/>
              </a:lnSpc>
              <a:spcBef>
                <a:spcPts val="300"/>
              </a:spcBef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создание сценариев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514350" indent="-342900" algn="just" defTabSz="685800">
              <a:lnSpc>
                <a:spcPct val="150000"/>
              </a:lnSpc>
              <a:spcBef>
                <a:spcPts val="300"/>
              </a:spcBef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гибкая настройка системы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6" name="Google Shape;102;p3">
            <a:extLst>
              <a:ext uri="{FF2B5EF4-FFF2-40B4-BE49-F238E27FC236}">
                <a16:creationId xmlns:a16="http://schemas.microsoft.com/office/drawing/2014/main" id="{A326E94E-C1C4-40D2-9F78-82319682E7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3;p3">
            <a:extLst>
              <a:ext uri="{FF2B5EF4-FFF2-40B4-BE49-F238E27FC236}">
                <a16:creationId xmlns:a16="http://schemas.microsoft.com/office/drawing/2014/main" id="{92BFC93C-2BB7-4353-827B-5DCFBDBE0BA1}"/>
              </a:ext>
            </a:extLst>
          </p:cNvPr>
          <p:cNvSpPr txBox="1"/>
          <p:nvPr/>
        </p:nvSpPr>
        <p:spPr>
          <a:xfrm>
            <a:off x="0" y="1"/>
            <a:ext cx="8244408" cy="662497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Требования к системе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145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0" y="1"/>
            <a:ext cx="8244408" cy="662497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Готовые решения от разных компаний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image3.png">
            <a:extLst>
              <a:ext uri="{FF2B5EF4-FFF2-40B4-BE49-F238E27FC236}">
                <a16:creationId xmlns:a16="http://schemas.microsoft.com/office/drawing/2014/main" id="{B9210614-C1D1-443B-8EE9-D7C0338B4AB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2498"/>
            <a:ext cx="3024336" cy="3042236"/>
          </a:xfrm>
          <a:prstGeom prst="rect">
            <a:avLst/>
          </a:prstGeom>
          <a:ln/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47280E0C-8B4F-4D5D-BF59-F2F139081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335" y="1152021"/>
            <a:ext cx="5821132" cy="327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2.png">
            <a:extLst>
              <a:ext uri="{FF2B5EF4-FFF2-40B4-BE49-F238E27FC236}">
                <a16:creationId xmlns:a16="http://schemas.microsoft.com/office/drawing/2014/main" id="{5513835A-8E68-412B-9690-0B7F1E4092A4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90241" y="3583612"/>
            <a:ext cx="1643853" cy="3274387"/>
          </a:xfrm>
          <a:prstGeom prst="rect">
            <a:avLst/>
          </a:prstGeom>
          <a:ln/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CB8C0DB6-933B-4F16-ADC3-F27258CBDAA7}"/>
              </a:ext>
            </a:extLst>
          </p:cNvPr>
          <p:cNvSpPr txBox="1"/>
          <p:nvPr/>
        </p:nvSpPr>
        <p:spPr bwMode="auto">
          <a:xfrm>
            <a:off x="3260469" y="4806577"/>
            <a:ext cx="4983939" cy="13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 algn="just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Разные компании предоставляют различные виды интерактивного взаимодействия пользователя с системой. Предлагаю заострить внимание на тех, что больше всего подходят под выбранную предметную область.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0" y="1"/>
            <a:ext cx="8244408" cy="662497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Устройства, используемые в системе на стороне стенда</a:t>
            </a:r>
            <a:endParaRPr lang="ru-RU"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C409F87-2D96-4080-BD20-C56BACC5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22" y="1466576"/>
            <a:ext cx="2619741" cy="39248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1EEE3A-1B40-45F1-94C1-80B9B13FF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608" y="2161998"/>
            <a:ext cx="2610214" cy="25340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881C13-4AD1-42FA-B7B4-DAAAABDD17C0}"/>
              </a:ext>
            </a:extLst>
          </p:cNvPr>
          <p:cNvSpPr txBox="1"/>
          <p:nvPr/>
        </p:nvSpPr>
        <p:spPr>
          <a:xfrm>
            <a:off x="1418208" y="5429613"/>
            <a:ext cx="4931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</a:t>
            </a:r>
            <a:r>
              <a:rPr lang="ru-RU" dirty="0" err="1"/>
              <a:t>mron</a:t>
            </a:r>
            <a:r>
              <a:rPr lang="ru-RU" dirty="0"/>
              <a:t> cj1h-cpu65h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D90D7A-11C7-4311-BCE4-CDF961E95988}"/>
              </a:ext>
            </a:extLst>
          </p:cNvPr>
          <p:cNvSpPr txBox="1"/>
          <p:nvPr/>
        </p:nvSpPr>
        <p:spPr>
          <a:xfrm>
            <a:off x="5286653" y="48131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</a:t>
            </a:r>
            <a:r>
              <a:rPr lang="ru-RU" dirty="0" err="1"/>
              <a:t>mron</a:t>
            </a:r>
            <a:r>
              <a:rPr lang="ru-RU" dirty="0"/>
              <a:t> nj301-1100</a:t>
            </a:r>
          </a:p>
        </p:txBody>
      </p:sp>
    </p:spTree>
    <p:extLst>
      <p:ext uri="{BB962C8B-B14F-4D97-AF65-F5344CB8AC3E}">
        <p14:creationId xmlns:p14="http://schemas.microsoft.com/office/powerpoint/2010/main" val="4101514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0" y="1"/>
            <a:ext cx="8244408" cy="662497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Недостатки существующих решений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332656" y="1916832"/>
            <a:ext cx="84786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449796" y="882492"/>
            <a:ext cx="8244408" cy="632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45021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latin typeface="Times New Roman" panose="02020603050405020304" pitchFamily="18" charset="0"/>
                <a:ea typeface="+mn-ea"/>
                <a:cs typeface="+mn-cs"/>
              </a:rPr>
              <a:t>	Изучив предложенные системы, можно выделить ряд общих недостатков: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●"/>
              <a:tabLst>
                <a:tab pos="810260" algn="l"/>
              </a:tabLst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схожие решения не всегда являются проприетарными, а принадлежат конкретному </a:t>
            </a:r>
            <a:r>
              <a:rPr lang="ru-RU" sz="1800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вендеру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800" u="none" strike="noStrike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●"/>
              <a:tabLst>
                <a:tab pos="810260" algn="l"/>
              </a:tabLst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как правило такие системы разработаны под конкретное оборудование и требуют его наличие, что делает их абсолютно негибкими;</a:t>
            </a:r>
            <a:endParaRPr lang="ru-RU" sz="1800" u="none" strike="noStrike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●"/>
              <a:tabLst>
                <a:tab pos="810260" algn="l"/>
              </a:tabLst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рамках политики импортозамещения определенных, к примеру, государственных, </a:t>
            </a:r>
            <a:r>
              <a:rPr lang="ru-RU" sz="1800" dirty="0">
                <a:latin typeface="Times New Roman" panose="02020603050405020304" pitchFamily="18" charset="0"/>
              </a:rPr>
              <a:t>компаний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некоторые инструменты могут не подойти, так как не являются отечественными;</a:t>
            </a:r>
            <a:endParaRPr lang="ru-RU" sz="1800" u="none" strike="noStrike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●"/>
              <a:tabLst>
                <a:tab pos="810260" algn="l"/>
              </a:tabLst>
            </a:pPr>
            <a:r>
              <a:rPr lang="ru-RU" sz="1800" dirty="0">
                <a:latin typeface="Times New Roman" panose="02020603050405020304" pitchFamily="18" charset="0"/>
              </a:rPr>
              <a:t>инструменты, ориентированные на интернет вещей, используют такие протоколы, как MQTT, что может не подойти для менее «умных» устройств, которые используются в промышленности;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●"/>
              <a:tabLst>
                <a:tab pos="810260" algn="l"/>
              </a:tabLst>
            </a:pPr>
            <a:r>
              <a:rPr lang="ru-RU" sz="1800" dirty="0">
                <a:latin typeface="Times New Roman" panose="02020603050405020304" pitchFamily="18" charset="0"/>
              </a:rPr>
              <a:t>не все системы предоставляют гибкую настройку связи оборудования и интерфейса.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810260" algn="l"/>
              </a:tabLst>
            </a:pPr>
            <a:endParaRPr lang="ru-RU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2ceb2564583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ceb2564583_0_74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Контекстная диаграмма IDEF0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4EC071-3E2B-490A-889E-C360FA957180}"/>
              </a:ext>
            </a:extLst>
          </p:cNvPr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300789" y="1179095"/>
            <a:ext cx="8542422" cy="5512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2ceb2564583_0_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ceb2564583_0_125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Декомпозиция контекстной диаграммы IDEF0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D916A6-B6FD-7EE1-1403-7A41137A20A4}"/>
              </a:ext>
            </a:extLst>
          </p:cNvPr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400345" y="1311441"/>
            <a:ext cx="8244299" cy="5221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5617218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10</a:t>
            </a:fld>
            <a:endParaRPr/>
          </a:p>
        </p:txBody>
      </p:sp>
      <p:pic>
        <p:nvPicPr>
          <p:cNvPr id="7" name="Google Shape;165;g2ceb2564583_0_125">
            <a:extLst>
              <a:ext uri="{FF2B5EF4-FFF2-40B4-BE49-F238E27FC236}">
                <a16:creationId xmlns:a16="http://schemas.microsoft.com/office/drawing/2014/main" id="{1AA07C20-FAA0-4DF8-82A8-1304A37807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6;g2ceb2564583_0_125">
            <a:extLst>
              <a:ext uri="{FF2B5EF4-FFF2-40B4-BE49-F238E27FC236}">
                <a16:creationId xmlns:a16="http://schemas.microsoft.com/office/drawing/2014/main" id="{95CF1E64-1AE3-4632-86A0-9461F684EFF8}"/>
              </a:ext>
            </a:extLst>
          </p:cNvPr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Общая архитектура ИУС</a:t>
            </a:r>
            <a:endParaRPr lang="en-US"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3BF12E-94FA-4B60-964C-DC5533B5A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11" y="756457"/>
            <a:ext cx="5925377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5617218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11</a:t>
            </a:fld>
            <a:endParaRPr/>
          </a:p>
        </p:txBody>
      </p:sp>
      <p:pic>
        <p:nvPicPr>
          <p:cNvPr id="7" name="Google Shape;165;g2ceb2564583_0_125">
            <a:extLst>
              <a:ext uri="{FF2B5EF4-FFF2-40B4-BE49-F238E27FC236}">
                <a16:creationId xmlns:a16="http://schemas.microsoft.com/office/drawing/2014/main" id="{1AA07C20-FAA0-4DF8-82A8-1304A37807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6;g2ceb2564583_0_125">
            <a:extLst>
              <a:ext uri="{FF2B5EF4-FFF2-40B4-BE49-F238E27FC236}">
                <a16:creationId xmlns:a16="http://schemas.microsoft.com/office/drawing/2014/main" id="{95CF1E64-1AE3-4632-86A0-9461F684EFF8}"/>
              </a:ext>
            </a:extLst>
          </p:cNvPr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Модель ИУС в нотации </a:t>
            </a:r>
            <a:r>
              <a:rPr lang="en-US" sz="2400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BPMN</a:t>
            </a:r>
            <a:endParaRPr lang="en-US"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CB1C7B6-9532-45CA-996B-290328433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39" y="740488"/>
            <a:ext cx="7315861" cy="603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04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2ceb2564583_0_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ceb2564583_0_133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Физическая модель БД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39D9AB7-0F39-4408-9EAC-C63EB70DA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0" y="1448656"/>
            <a:ext cx="9116360" cy="462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2ceb2564583_0_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ceb2564583_0_133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Диаграмма компонентов ИУС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6B1CAE-186D-4558-99CB-9DB43696F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37564"/>
            <a:ext cx="9144000" cy="438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44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2ceb2564583_0_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ceb2564583_0_125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БД</a:t>
            </a:r>
            <a:endParaRPr lang="en-US"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8CDC13-3813-485C-965B-C39C14FBB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29" y="1092842"/>
            <a:ext cx="7899184" cy="83671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49F500-E5BE-4B86-8C9E-90B4A1526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829" y="2113676"/>
            <a:ext cx="6120765" cy="19240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C4B649-FBCD-4822-B714-803905678A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29" y="4305670"/>
            <a:ext cx="2478790" cy="237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48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2ceb2564583_0_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ceb2564583_0_125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Реализация стендового компонента система, 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TCP </a:t>
            </a: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соединение</a:t>
            </a:r>
            <a:endParaRPr lang="en-US"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3246AE-E8EE-4DF3-9A27-A0620A464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78" y="4831960"/>
            <a:ext cx="6120765" cy="50863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C4356F-8CE7-4E2C-82E4-A600A085C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78" y="5515509"/>
            <a:ext cx="6120765" cy="7600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5AA4625-0E8D-4743-9F33-4F213D171070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45"/>
          <a:stretch/>
        </p:blipFill>
        <p:spPr bwMode="auto">
          <a:xfrm>
            <a:off x="890178" y="1070810"/>
            <a:ext cx="7243169" cy="1564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E2B3BF-20E7-4093-9219-E819F4C69030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80" b="26738"/>
          <a:stretch/>
        </p:blipFill>
        <p:spPr bwMode="auto">
          <a:xfrm>
            <a:off x="890178" y="2809830"/>
            <a:ext cx="7110028" cy="1653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9273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2ceb2564583_0_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ceb2564583_0_125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Создание </a:t>
            </a:r>
            <a:r>
              <a:rPr lang="ru-RU" sz="2400" b="0" i="0" u="none" strike="noStrike" cap="none" dirty="0" err="1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телеграм</a:t>
            </a: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 бота</a:t>
            </a:r>
            <a:endParaRPr lang="en-US"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2DC128-087D-45D6-AEEA-5426A81EF6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170" y="908720"/>
            <a:ext cx="4369290" cy="368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BDBD5AF-46B4-4465-88CA-BA4723AC5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3660" y="5114102"/>
            <a:ext cx="6120765" cy="101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56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2ceb2564583_0_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ceb2564583_0_133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Панель конфигурации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3178C8-2273-4058-8531-352DF8CF3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617" y="1058816"/>
            <a:ext cx="6120765" cy="18294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66EB88-0431-408C-B341-68A328001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617" y="3284666"/>
            <a:ext cx="6120765" cy="253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38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5617218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18</a:t>
            </a:fld>
            <a:endParaRPr/>
          </a:p>
        </p:txBody>
      </p:sp>
      <p:pic>
        <p:nvPicPr>
          <p:cNvPr id="6" name="Google Shape;179;g2ceb2564583_0_133">
            <a:extLst>
              <a:ext uri="{FF2B5EF4-FFF2-40B4-BE49-F238E27FC236}">
                <a16:creationId xmlns:a16="http://schemas.microsoft.com/office/drawing/2014/main" id="{89EE7E0E-1357-4D4B-849E-4A08B6A175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0;g2ceb2564583_0_133">
            <a:extLst>
              <a:ext uri="{FF2B5EF4-FFF2-40B4-BE49-F238E27FC236}">
                <a16:creationId xmlns:a16="http://schemas.microsoft.com/office/drawing/2014/main" id="{30E0997D-D0BA-46EA-9666-48FA07D508A0}"/>
              </a:ext>
            </a:extLst>
          </p:cNvPr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Создание </a:t>
            </a:r>
            <a:r>
              <a:rPr lang="ru-RU" sz="2400" dirty="0" err="1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дашборда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Рисунок 7" descr="Pie plot">
            <a:extLst>
              <a:ext uri="{FF2B5EF4-FFF2-40B4-BE49-F238E27FC236}">
                <a16:creationId xmlns:a16="http://schemas.microsoft.com/office/drawing/2014/main" id="{96066AF6-166B-44A4-89D3-0A16BB5C1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295" y="3267353"/>
            <a:ext cx="2484545" cy="248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 descr="Как построить несколько строк в Matplotlib">
            <a:extLst>
              <a:ext uri="{FF2B5EF4-FFF2-40B4-BE49-F238E27FC236}">
                <a16:creationId xmlns:a16="http://schemas.microsoft.com/office/drawing/2014/main" id="{B7868E11-F55E-4BC2-9B48-407C0677DD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67353"/>
            <a:ext cx="2886122" cy="24930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E8955C-0BB5-40D2-92AF-B3F81FC351D4}"/>
              </a:ext>
            </a:extLst>
          </p:cNvPr>
          <p:cNvSpPr txBox="1"/>
          <p:nvPr/>
        </p:nvSpPr>
        <p:spPr>
          <a:xfrm>
            <a:off x="927025" y="1325437"/>
            <a:ext cx="7289950" cy="16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Liberation Sans"/>
              </a:rPr>
              <a:t>Выбранные для визуализации графики представляют собой 2 диаграммы: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Liberation Sans"/>
              </a:rPr>
              <a:t>pie plot</a:t>
            </a:r>
            <a:r>
              <a:rPr lang="ru-RU" sz="1400" dirty="0">
                <a:effectLst/>
                <a:latin typeface="Times New Roman" panose="02020603050405020304" pitchFamily="18" charset="0"/>
                <a:ea typeface="Liberation Sans"/>
              </a:rPr>
              <a:t> (круговая диаграмма) для визуализации распределения различных типов действий пользователей, чтобы показать, какие действия они выполняли чаще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Liberation Sans"/>
              </a:rPr>
              <a:t>line plot </a:t>
            </a:r>
            <a:r>
              <a:rPr lang="ru-RU" sz="1400" dirty="0">
                <a:effectLst/>
                <a:latin typeface="Times New Roman" panose="02020603050405020304" pitchFamily="18" charset="0"/>
                <a:ea typeface="Liberation Sans"/>
              </a:rPr>
              <a:t>(линейная диаграмма) для визуализации изменения количества запросов определенного типа во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2550503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5617218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19</a:t>
            </a:fld>
            <a:endParaRPr/>
          </a:p>
        </p:txBody>
      </p:sp>
      <p:pic>
        <p:nvPicPr>
          <p:cNvPr id="6" name="Google Shape;179;g2ceb2564583_0_133">
            <a:extLst>
              <a:ext uri="{FF2B5EF4-FFF2-40B4-BE49-F238E27FC236}">
                <a16:creationId xmlns:a16="http://schemas.microsoft.com/office/drawing/2014/main" id="{89EE7E0E-1357-4D4B-849E-4A08B6A175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0;g2ceb2564583_0_133">
            <a:extLst>
              <a:ext uri="{FF2B5EF4-FFF2-40B4-BE49-F238E27FC236}">
                <a16:creationId xmlns:a16="http://schemas.microsoft.com/office/drawing/2014/main" id="{30E0997D-D0BA-46EA-9666-48FA07D508A0}"/>
              </a:ext>
            </a:extLst>
          </p:cNvPr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Голосовой помощник и развертка</a:t>
            </a:r>
          </a:p>
        </p:txBody>
      </p:sp>
      <p:pic>
        <p:nvPicPr>
          <p:cNvPr id="9" name="Picture 2" descr="Как записать и прослушать голосовое сообщение в WhatsApp, Telegram и  iMessage | AppleInsider.ru">
            <a:extLst>
              <a:ext uri="{FF2B5EF4-FFF2-40B4-BE49-F238E27FC236}">
                <a16:creationId xmlns:a16="http://schemas.microsoft.com/office/drawing/2014/main" id="{6F989A25-8487-413B-A5EF-A08929204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75" y="3342153"/>
            <a:ext cx="5069150" cy="280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E529B9-B7D7-49E4-81D4-A2B429A70157}"/>
              </a:ext>
            </a:extLst>
          </p:cNvPr>
          <p:cNvSpPr txBox="1"/>
          <p:nvPr/>
        </p:nvSpPr>
        <p:spPr>
          <a:xfrm>
            <a:off x="538049" y="908720"/>
            <a:ext cx="7778367" cy="199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Liberation Sans"/>
              </a:rPr>
              <a:t>Для определения текста, который содержится в аудио, необходимо загрузить голосовое сообщение из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Liberation Sans"/>
              </a:rPr>
              <a:t>телеграма</a:t>
            </a:r>
            <a:r>
              <a:rPr lang="ru-RU" sz="1400" dirty="0">
                <a:effectLst/>
                <a:latin typeface="Times New Roman" panose="02020603050405020304" pitchFamily="18" charset="0"/>
                <a:ea typeface="Liberation Sans"/>
              </a:rPr>
              <a:t> на сервер, для чего потребуется отдельный обработчик события внутри бота. После чего, можно воспользоваться методами библиотеки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Liberation Sans"/>
              </a:rPr>
              <a:t>SpeechKit</a:t>
            </a:r>
            <a:r>
              <a:rPr lang="en-US" sz="1400" dirty="0">
                <a:effectLst/>
                <a:latin typeface="Times New Roman" panose="02020603050405020304" pitchFamily="18" charset="0"/>
                <a:ea typeface="Liberation Sans"/>
              </a:rPr>
              <a:t> </a:t>
            </a:r>
            <a:r>
              <a:rPr lang="ru-RU" sz="1400" dirty="0">
                <a:effectLst/>
                <a:latin typeface="Times New Roman" panose="02020603050405020304" pitchFamily="18" charset="0"/>
                <a:ea typeface="Liberation Sans"/>
              </a:rPr>
              <a:t>для распознания речи в тексте, который вернет уже готовый текст. </a:t>
            </a:r>
          </a:p>
          <a:p>
            <a:pPr indent="450215" algn="just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Liberation Sans"/>
              </a:rPr>
              <a:t>Далее в тексте проверяем наличие определенны ключевых слов, таких как ‘кнопка’, ‘один’ и ‘включить’, и отправлять необходимый запрос в случае наличия такового.</a:t>
            </a:r>
          </a:p>
        </p:txBody>
      </p:sp>
    </p:spTree>
    <p:extLst>
      <p:ext uri="{BB962C8B-B14F-4D97-AF65-F5344CB8AC3E}">
        <p14:creationId xmlns:p14="http://schemas.microsoft.com/office/powerpoint/2010/main" val="1456509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2ceb2564583_0_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416" y="72008"/>
            <a:ext cx="791924" cy="83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ceb2564583_0_133"/>
          <p:cNvSpPr txBox="1"/>
          <p:nvPr/>
        </p:nvSpPr>
        <p:spPr>
          <a:xfrm>
            <a:off x="0" y="1"/>
            <a:ext cx="8244300" cy="6624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ru-RU" sz="2400" dirty="0">
                <a:solidFill>
                  <a:schemeClr val="lt1"/>
                </a:solidFill>
                <a:latin typeface="Times New Roman"/>
                <a:ea typeface="Calibri"/>
                <a:cs typeface="Times New Roman"/>
                <a:sym typeface="Times New Roman"/>
              </a:rPr>
              <a:t>Заключение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CA30B-94B4-402D-AE5F-0B1C5BDA28FE}"/>
              </a:ext>
            </a:extLst>
          </p:cNvPr>
          <p:cNvSpPr txBox="1"/>
          <p:nvPr/>
        </p:nvSpPr>
        <p:spPr>
          <a:xfrm>
            <a:off x="72116" y="856357"/>
            <a:ext cx="82443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Проанализировав предметную область, были определены ключевые требования к ИУС. Структурно-функциональный анализ в нотациях IDEF0 и BPMN позволил четко представить систему и процессы. Разработка архитектуры ИУС обеспечила гибкость и масштабируемость системы. Логическая модель данных обеспечила единообразие и согласованность данных. На основе спроектированной системы были реализованы различные ее компоненты. В результате, была создана эффективная информационная система, отвечающая требованиям и ожиданиям пользователей.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tabLst/>
              <a:defRPr/>
            </a:pP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2615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8CB3E3"/>
              </a:gs>
              <a:gs pos="100000">
                <a:srgbClr val="F2F2F2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ru-RU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МИРЭА – РОССИЙСКИЙ ТЕХНОЛОГИЧЕСКИЙ УНИВЕРСИТЕТ</a:t>
            </a:r>
            <a:endParaRPr/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9872" y="1916832"/>
            <a:ext cx="1966131" cy="2227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0" y="4509120"/>
            <a:ext cx="91440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4286</TotalTime>
  <Words>556</Words>
  <Application>Microsoft Office PowerPoint</Application>
  <PresentationFormat>Экран (4:3)</PresentationFormat>
  <Paragraphs>64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Symbol</vt:lpstr>
      <vt:lpstr>Times New Roman</vt:lpstr>
      <vt:lpstr>Тема Office</vt:lpstr>
      <vt:lpstr>МИРЭА – РОССИЙСКИЙ ТЕХНОЛОГИЧЕСКИЙ УНИВЕРСИТЕТ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МИРЭА – РОССИЙСКИЙ ТЕХНОЛОГИЧЕСКИЙ УНИВЕРСИТЕТ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МИРЭА – РОССИЙСКИЙ ТЕХНОЛОГИЧЕСКИЙ УНИВЕРСИТЕТ</dc:title>
  <dc:creator>Николай</dc:creator>
  <cp:lastModifiedBy>zabarinternational@gmail.com</cp:lastModifiedBy>
  <cp:revision>25</cp:revision>
  <dcterms:created xsi:type="dcterms:W3CDTF">2018-06-04T07:27:05Z</dcterms:created>
  <dcterms:modified xsi:type="dcterms:W3CDTF">2024-06-13T13:02:00Z</dcterms:modified>
</cp:coreProperties>
</file>